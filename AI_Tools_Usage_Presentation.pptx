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-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688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7306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3807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17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1183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3189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8633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623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546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794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959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48177" y="3771174"/>
            <a:ext cx="5540814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947698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3124201"/>
            <a:ext cx="6620968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1237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5703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5592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6311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746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7000"/>
                </a:schemeClr>
              </a:gs>
              <a:gs pos="69000">
                <a:schemeClr val="accent1">
                  <a:lumMod val="60000"/>
                  <a:lumOff val="40000"/>
                  <a:alpha val="0"/>
                </a:schemeClr>
              </a:gs>
              <a:gs pos="36000">
                <a:schemeClr val="accent1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14000"/>
                </a:schemeClr>
              </a:gs>
              <a:gs pos="73000">
                <a:schemeClr val="accent1">
                  <a:lumMod val="60000"/>
                  <a:lumOff val="40000"/>
                  <a:alpha val="0"/>
                </a:schemeClr>
              </a:gs>
              <a:gs pos="36000">
                <a:schemeClr val="accent1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10000"/>
                </a:schemeClr>
              </a:gs>
              <a:gs pos="66000">
                <a:schemeClr val="accent1">
                  <a:lumMod val="60000"/>
                  <a:lumOff val="40000"/>
                  <a:alpha val="0"/>
                </a:schemeClr>
              </a:gs>
              <a:gs pos="31000">
                <a:schemeClr val="accent1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11000"/>
                </a:schemeClr>
              </a:gs>
              <a:gs pos="75000">
                <a:schemeClr val="accent1">
                  <a:lumMod val="60000"/>
                  <a:lumOff val="40000"/>
                  <a:alpha val="0"/>
                </a:schemeClr>
              </a:gs>
              <a:gs pos="36000">
                <a:schemeClr val="accent1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8000"/>
                </a:schemeClr>
              </a:gs>
              <a:gs pos="72000">
                <a:schemeClr val="accent1">
                  <a:lumMod val="60000"/>
                  <a:lumOff val="40000"/>
                  <a:alpha val="0"/>
                </a:schemeClr>
              </a:gs>
              <a:gs pos="36000">
                <a:schemeClr val="accent1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66710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86185" y="586381"/>
            <a:ext cx="6620968" cy="1598751"/>
          </a:xfrm>
        </p:spPr>
        <p:txBody>
          <a:bodyPr/>
          <a:lstStyle/>
          <a:p>
            <a:r>
              <a:rPr sz="3600" dirty="0"/>
              <a:t>AI Tools Usage by Indian College Students 2025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516" y="3296923"/>
            <a:ext cx="6620968" cy="1598750"/>
          </a:xfrm>
        </p:spPr>
        <p:txBody>
          <a:bodyPr>
            <a:normAutofit fontScale="25000" lnSpcReduction="20000"/>
          </a:bodyPr>
          <a:lstStyle/>
          <a:p>
            <a:r>
              <a:rPr lang="en-US" sz="6400" b="1" dirty="0"/>
              <a:t>Members - Sneha Snigdha </a:t>
            </a:r>
            <a:r>
              <a:rPr lang="en-US" sz="6400" b="1" dirty="0" err="1"/>
              <a:t>Bishoyi</a:t>
            </a:r>
            <a:endParaRPr lang="en-US" sz="6400" b="1" dirty="0"/>
          </a:p>
          <a:p>
            <a:r>
              <a:rPr lang="en-US" sz="6400" b="1" dirty="0"/>
              <a:t>Mintu Kumar</a:t>
            </a:r>
          </a:p>
          <a:p>
            <a:r>
              <a:rPr lang="en-US" sz="6400" b="1" dirty="0"/>
              <a:t>Jitendra Kumar</a:t>
            </a:r>
          </a:p>
          <a:p>
            <a:r>
              <a:rPr lang="en-US" sz="6400" b="1" dirty="0"/>
              <a:t>Muskan Kumari</a:t>
            </a:r>
          </a:p>
          <a:p>
            <a:r>
              <a:rPr lang="en-US" sz="6400" b="1" dirty="0"/>
              <a:t>Sandeep Saha</a:t>
            </a:r>
          </a:p>
          <a:p>
            <a:endParaRPr lang="en-US" sz="6400" b="1" dirty="0"/>
          </a:p>
          <a:p>
            <a:r>
              <a:rPr sz="6400" b="1" dirty="0"/>
              <a:t>C</a:t>
            </a:r>
            <a:r>
              <a:rPr lang="en-US" sz="6400" b="1" dirty="0"/>
              <a:t>UTM </a:t>
            </a:r>
            <a:r>
              <a:rPr lang="en-US" sz="6400" b="1" dirty="0" err="1"/>
              <a:t>Paralakhemundi</a:t>
            </a:r>
            <a:r>
              <a:rPr lang="en-US" sz="6400" b="1" dirty="0"/>
              <a:t> Campus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IN" dirty="0"/>
              <a:t>1. Global Competitiveness: Prepare students to compete in a global market by developing their skills in AI, data science, and other emerging technologies.</a:t>
            </a:r>
          </a:p>
          <a:p>
            <a:r>
              <a:rPr lang="en-IN" dirty="0"/>
              <a:t>2. Productivity Tracking: Track student productivity metrics, such as tasks completed, projects finished, and time spent on focused work</a:t>
            </a:r>
          </a:p>
          <a:p>
            <a:r>
              <a:rPr lang="en-IN" dirty="0"/>
              <a:t>3. Career Readiness Assessment: Assess students' readiness for the workforce, including their skills, knowledge, and experience with AI tools.</a:t>
            </a:r>
          </a:p>
          <a:p>
            <a:r>
              <a:rPr lang="en-IN" dirty="0"/>
              <a:t>4. Skill Development Tracking: Track students' development of in-demand skills, such as data analysis, machine learning, and programming.</a:t>
            </a:r>
          </a:p>
          <a:p>
            <a:r>
              <a:rPr lang="en-IN" dirty="0"/>
              <a:t>5. AI Literacy and Awareness: Evaluate students' understanding of AI concepts, tools, and applications.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Data Understanding &amp; Cleaning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Dataset of 3,614 students from multiple Indian colleges</a:t>
            </a:r>
          </a:p>
          <a:p>
            <a:r>
              <a:rPr dirty="0"/>
              <a:t>• Cleaned missing/duplicate data, standardized names</a:t>
            </a:r>
          </a:p>
          <a:p>
            <a:r>
              <a:rPr dirty="0"/>
              <a:t>• Derived new metrics – Avg Awareness, Avg Trust, Usage Hours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Design &amp;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KPIs: Avg Daily Hours, Avg Awareness, Avg Trust, Total Students</a:t>
            </a:r>
          </a:p>
          <a:p>
            <a:r>
              <a:t>• Filters: Device Used, College Name</a:t>
            </a:r>
          </a:p>
          <a:p>
            <a:r>
              <a:t>• Visuals: Awareness by Tool, Students by College &amp; State, Trust Gauge</a:t>
            </a:r>
          </a:p>
          <a:p>
            <a:r>
              <a:t>• Map visualization for geographic distribution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 &amp;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Avg daily AI usage: 2.56 hrs</a:t>
            </a:r>
          </a:p>
          <a:p>
            <a:r>
              <a:t>• Avg awareness level: 5.83/10</a:t>
            </a:r>
          </a:p>
          <a:p>
            <a:r>
              <a:t>• Avg trust level: 3.02/6.05</a:t>
            </a:r>
          </a:p>
          <a:p>
            <a:r>
              <a:t>• Most popular tool: ChatGPT (Awareness 6.2)</a:t>
            </a:r>
          </a:p>
          <a:p>
            <a:r>
              <a:t>• Higher adoption in NITs and metropolitan colleges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 &amp; Implications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Integrate AI literacy into curriculum</a:t>
            </a:r>
          </a:p>
          <a:p>
            <a:r>
              <a:t>• Encourage responsible and ethical AI usage</a:t>
            </a:r>
          </a:p>
          <a:p>
            <a:r>
              <a:t>• Promote workshops to build trust and transparency</a:t>
            </a:r>
          </a:p>
          <a:p>
            <a:r>
              <a:t>• Use data to guide AI readiness programs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Learning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Students show high interest and awareness in AI tools</a:t>
            </a:r>
          </a:p>
          <a:p>
            <a:r>
              <a:t>• Positive link between AI usage and academic performance</a:t>
            </a:r>
          </a:p>
          <a:p>
            <a:r>
              <a:t>• Medium trust level indicates potential for education</a:t>
            </a:r>
          </a:p>
          <a:p>
            <a:r>
              <a:t>• Insights can help institutions shape AI-focused policies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70736-92E4-63E3-A02C-60BBBC339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310" y="2335947"/>
            <a:ext cx="7055380" cy="1400530"/>
          </a:xfrm>
        </p:spPr>
        <p:txBody>
          <a:bodyPr/>
          <a:lstStyle/>
          <a:p>
            <a:r>
              <a:rPr lang="en-US" sz="8800" dirty="0"/>
              <a:t>THANK YOU</a:t>
            </a:r>
            <a:endParaRPr lang="en-IN" sz="8800" dirty="0"/>
          </a:p>
        </p:txBody>
      </p:sp>
    </p:spTree>
    <p:extLst>
      <p:ext uri="{BB962C8B-B14F-4D97-AF65-F5344CB8AC3E}">
        <p14:creationId xmlns:p14="http://schemas.microsoft.com/office/powerpoint/2010/main" val="351629500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04000"/>
                <a:satMod val="128000"/>
                <a:lumMod val="104000"/>
              </a:schemeClr>
            </a:gs>
            <a:gs pos="100000">
              <a:schemeClr val="phClr">
                <a:tint val="100000"/>
                <a:shade val="76000"/>
                <a:hueMod val="89000"/>
                <a:satMod val="164000"/>
                <a:lumMod val="68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2000"/>
                <a:hueMod val="42000"/>
                <a:satMod val="124000"/>
                <a:lumMod val="62000"/>
              </a:schemeClr>
              <a:schemeClr val="phClr">
                <a:tint val="96000"/>
                <a:satMod val="13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5A2F9111-B2DB-470C-BA56-608F9B6588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74</TotalTime>
  <Words>348</Words>
  <Application>Microsoft Office PowerPoint</Application>
  <PresentationFormat>On-screen Show (4:3)</PresentationFormat>
  <Paragraphs>40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Century Gothic</vt:lpstr>
      <vt:lpstr>Wingdings 3</vt:lpstr>
      <vt:lpstr>Ion</vt:lpstr>
      <vt:lpstr>AI Tools Usage by Indian College Students 2025</vt:lpstr>
      <vt:lpstr>Objectives</vt:lpstr>
      <vt:lpstr>Data Understanding &amp; Cleaning Summary</vt:lpstr>
      <vt:lpstr>Dashboard Design &amp; Structure</vt:lpstr>
      <vt:lpstr>Key Insights &amp; Analytics</vt:lpstr>
      <vt:lpstr>Recommendations &amp; Implications</vt:lpstr>
      <vt:lpstr>Conclusion &amp; Learning Summary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Sandeep Saha</cp:lastModifiedBy>
  <cp:revision>2</cp:revision>
  <dcterms:created xsi:type="dcterms:W3CDTF">2013-01-27T09:14:16Z</dcterms:created>
  <dcterms:modified xsi:type="dcterms:W3CDTF">2025-11-04T00:11:38Z</dcterms:modified>
  <cp:category/>
</cp:coreProperties>
</file>